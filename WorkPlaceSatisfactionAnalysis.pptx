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258" r:id="rId6"/>
    <p:sldId id="257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61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49B1F-6032-26CD-A1DF-56C12F220A80}" v="180" dt="2026-10-23T08:21:31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3" autoAdjust="0"/>
    <p:restoredTop sz="94660"/>
  </p:normalViewPr>
  <p:slideViewPr>
    <p:cSldViewPr snapToGrid="0">
      <p:cViewPr varScale="1">
        <p:scale>
          <a:sx n="61" d="100"/>
          <a:sy n="61" d="100"/>
        </p:scale>
        <p:origin x="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4EE08-9FAA-4588-A0A4-67E3236E08B7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B60C4B-223B-48E6-A067-7024E3C93F47}">
      <dgm:prSet/>
      <dgm:spPr/>
      <dgm:t>
        <a:bodyPr/>
        <a:lstStyle/>
        <a:p>
          <a:r>
            <a:rPr lang="en-US" dirty="0"/>
            <a:t>The survey was conducted by interviewing 82 workers of our company.</a:t>
          </a:r>
        </a:p>
      </dgm:t>
    </dgm:pt>
    <dgm:pt modelId="{3A4F0B15-0C9B-4B93-93E9-A329D0512C74}" type="parTrans" cxnId="{962D60C7-D1B3-47DE-B4D5-76D0DFDB86F6}">
      <dgm:prSet/>
      <dgm:spPr/>
      <dgm:t>
        <a:bodyPr/>
        <a:lstStyle/>
        <a:p>
          <a:endParaRPr lang="en-US"/>
        </a:p>
      </dgm:t>
    </dgm:pt>
    <dgm:pt modelId="{333CCDA3-2E27-4A82-A685-DB321C5BB7AE}" type="sibTrans" cxnId="{962D60C7-D1B3-47DE-B4D5-76D0DFDB86F6}">
      <dgm:prSet/>
      <dgm:spPr/>
      <dgm:t>
        <a:bodyPr/>
        <a:lstStyle/>
        <a:p>
          <a:endParaRPr lang="en-US"/>
        </a:p>
      </dgm:t>
    </dgm:pt>
    <dgm:pt modelId="{08E91139-2C05-4CA6-90E4-450635BC0D30}">
      <dgm:prSet/>
      <dgm:spPr/>
      <dgm:t>
        <a:bodyPr/>
        <a:lstStyle/>
        <a:p>
          <a:r>
            <a:rPr lang="en-US" dirty="0"/>
            <a:t>We took every worker in the middle of the day and asked to fill the form out for possible better treatment</a:t>
          </a:r>
        </a:p>
      </dgm:t>
    </dgm:pt>
    <dgm:pt modelId="{FFB11935-02E3-4D50-B046-2E85C21A1F5D}" type="parTrans" cxnId="{BD2DF861-3B09-4CE3-BCAB-D8552FDB70FF}">
      <dgm:prSet/>
      <dgm:spPr/>
      <dgm:t>
        <a:bodyPr/>
        <a:lstStyle/>
        <a:p>
          <a:endParaRPr lang="en-US"/>
        </a:p>
      </dgm:t>
    </dgm:pt>
    <dgm:pt modelId="{5A575299-1931-48DC-BA51-86952A621DAE}" type="sibTrans" cxnId="{BD2DF861-3B09-4CE3-BCAB-D8552FDB70FF}">
      <dgm:prSet/>
      <dgm:spPr/>
      <dgm:t>
        <a:bodyPr/>
        <a:lstStyle/>
        <a:p>
          <a:endParaRPr lang="en-US"/>
        </a:p>
      </dgm:t>
    </dgm:pt>
    <dgm:pt modelId="{E65C500B-1127-47B8-94D9-4E7EF2F30524}">
      <dgm:prSet/>
      <dgm:spPr/>
      <dgm:t>
        <a:bodyPr/>
        <a:lstStyle/>
        <a:p>
          <a:r>
            <a:rPr lang="en-US" dirty="0"/>
            <a:t>All the participants got movie tickets for their effort</a:t>
          </a:r>
        </a:p>
      </dgm:t>
    </dgm:pt>
    <dgm:pt modelId="{80E027A1-BEDE-4C67-9920-38CF7B8BB765}" type="parTrans" cxnId="{6178EC53-A093-412D-BED7-F3C4307AE435}">
      <dgm:prSet/>
      <dgm:spPr/>
      <dgm:t>
        <a:bodyPr/>
        <a:lstStyle/>
        <a:p>
          <a:endParaRPr lang="en-US"/>
        </a:p>
      </dgm:t>
    </dgm:pt>
    <dgm:pt modelId="{4D23C59E-D24C-4787-8109-0251CEAB4E67}" type="sibTrans" cxnId="{6178EC53-A093-412D-BED7-F3C4307AE435}">
      <dgm:prSet/>
      <dgm:spPr/>
      <dgm:t>
        <a:bodyPr/>
        <a:lstStyle/>
        <a:p>
          <a:endParaRPr lang="en-US"/>
        </a:p>
      </dgm:t>
    </dgm:pt>
    <dgm:pt modelId="{4A38FF91-C4FD-4B89-889A-884DFF5ACA3C}">
      <dgm:prSet/>
      <dgm:spPr/>
      <dgm:t>
        <a:bodyPr/>
        <a:lstStyle/>
        <a:p>
          <a:r>
            <a:rPr lang="en-US" dirty="0"/>
            <a:t>Survey is in the middle of processing and after we </a:t>
          </a:r>
          <a:r>
            <a:rPr lang="en-US" dirty="0" err="1"/>
            <a:t>gonna</a:t>
          </a:r>
          <a:r>
            <a:rPr lang="en-US" dirty="0"/>
            <a:t> provide possible changes in company.</a:t>
          </a:r>
        </a:p>
      </dgm:t>
    </dgm:pt>
    <dgm:pt modelId="{2136A192-9796-420D-9877-328361D692DB}" type="parTrans" cxnId="{9C2CB584-B2D0-4F4F-9571-CC0A662EA4DE}">
      <dgm:prSet/>
      <dgm:spPr/>
      <dgm:t>
        <a:bodyPr/>
        <a:lstStyle/>
        <a:p>
          <a:endParaRPr lang="en-US"/>
        </a:p>
      </dgm:t>
    </dgm:pt>
    <dgm:pt modelId="{DCB1E4C8-0148-4601-9BE8-624DE235BA72}" type="sibTrans" cxnId="{9C2CB584-B2D0-4F4F-9571-CC0A662EA4DE}">
      <dgm:prSet/>
      <dgm:spPr/>
      <dgm:t>
        <a:bodyPr/>
        <a:lstStyle/>
        <a:p>
          <a:endParaRPr lang="en-US"/>
        </a:p>
      </dgm:t>
    </dgm:pt>
    <dgm:pt modelId="{D8C3DE9D-8BC7-4E9F-8A31-AB83C293A86A}" type="pres">
      <dgm:prSet presAssocID="{E384EE08-9FAA-4588-A0A4-67E3236E08B7}" presName="Name0" presStyleCnt="0">
        <dgm:presLayoutVars>
          <dgm:dir/>
          <dgm:animLvl val="lvl"/>
          <dgm:resizeHandles val="exact"/>
        </dgm:presLayoutVars>
      </dgm:prSet>
      <dgm:spPr/>
    </dgm:pt>
    <dgm:pt modelId="{7945A3DD-1A86-493A-868A-193ADED2169F}" type="pres">
      <dgm:prSet presAssocID="{A7B60C4B-223B-48E6-A067-7024E3C93F47}" presName="linNode" presStyleCnt="0"/>
      <dgm:spPr/>
    </dgm:pt>
    <dgm:pt modelId="{D97A773A-EA0A-44D5-9B30-F78FBBA3D5B5}" type="pres">
      <dgm:prSet presAssocID="{A7B60C4B-223B-48E6-A067-7024E3C93F4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1E99086-4E78-4877-81A0-4097B372A486}" type="pres">
      <dgm:prSet presAssocID="{333CCDA3-2E27-4A82-A685-DB321C5BB7AE}" presName="sp" presStyleCnt="0"/>
      <dgm:spPr/>
    </dgm:pt>
    <dgm:pt modelId="{5593D870-F52F-481F-A04F-819E5912A7A3}" type="pres">
      <dgm:prSet presAssocID="{08E91139-2C05-4CA6-90E4-450635BC0D30}" presName="linNode" presStyleCnt="0"/>
      <dgm:spPr/>
    </dgm:pt>
    <dgm:pt modelId="{CEF43261-F80E-497F-B743-8B845185815F}" type="pres">
      <dgm:prSet presAssocID="{08E91139-2C05-4CA6-90E4-450635BC0D3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0AB059A-D18B-46E3-938F-07048732A012}" type="pres">
      <dgm:prSet presAssocID="{5A575299-1931-48DC-BA51-86952A621DAE}" presName="sp" presStyleCnt="0"/>
      <dgm:spPr/>
    </dgm:pt>
    <dgm:pt modelId="{40CED300-F2F8-49C3-87C1-355A7A919FE1}" type="pres">
      <dgm:prSet presAssocID="{E65C500B-1127-47B8-94D9-4E7EF2F30524}" presName="linNode" presStyleCnt="0"/>
      <dgm:spPr/>
    </dgm:pt>
    <dgm:pt modelId="{F81D6BFD-D42A-45EA-BD31-C4D70F6F2442}" type="pres">
      <dgm:prSet presAssocID="{E65C500B-1127-47B8-94D9-4E7EF2F3052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11C543E-DADE-4AD8-8F86-18EC78D302B6}" type="pres">
      <dgm:prSet presAssocID="{4D23C59E-D24C-4787-8109-0251CEAB4E67}" presName="sp" presStyleCnt="0"/>
      <dgm:spPr/>
    </dgm:pt>
    <dgm:pt modelId="{907067E3-DF1F-4094-8790-93235C1C025B}" type="pres">
      <dgm:prSet presAssocID="{4A38FF91-C4FD-4B89-889A-884DFF5ACA3C}" presName="linNode" presStyleCnt="0"/>
      <dgm:spPr/>
    </dgm:pt>
    <dgm:pt modelId="{0E69A993-4B4D-49D7-B56A-8F8F5F28D095}" type="pres">
      <dgm:prSet presAssocID="{4A38FF91-C4FD-4B89-889A-884DFF5ACA3C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B7938600-10AF-42D3-98CB-81058D935C70}" type="presOf" srcId="{4A38FF91-C4FD-4B89-889A-884DFF5ACA3C}" destId="{0E69A993-4B4D-49D7-B56A-8F8F5F28D095}" srcOrd="0" destOrd="0" presId="urn:microsoft.com/office/officeart/2005/8/layout/vList5"/>
    <dgm:cxn modelId="{BC8D2C21-27BC-4211-B4F8-13A8615E9DF1}" type="presOf" srcId="{E65C500B-1127-47B8-94D9-4E7EF2F30524}" destId="{F81D6BFD-D42A-45EA-BD31-C4D70F6F2442}" srcOrd="0" destOrd="0" presId="urn:microsoft.com/office/officeart/2005/8/layout/vList5"/>
    <dgm:cxn modelId="{BD2DF861-3B09-4CE3-BCAB-D8552FDB70FF}" srcId="{E384EE08-9FAA-4588-A0A4-67E3236E08B7}" destId="{08E91139-2C05-4CA6-90E4-450635BC0D30}" srcOrd="1" destOrd="0" parTransId="{FFB11935-02E3-4D50-B046-2E85C21A1F5D}" sibTransId="{5A575299-1931-48DC-BA51-86952A621DAE}"/>
    <dgm:cxn modelId="{6178EC53-A093-412D-BED7-F3C4307AE435}" srcId="{E384EE08-9FAA-4588-A0A4-67E3236E08B7}" destId="{E65C500B-1127-47B8-94D9-4E7EF2F30524}" srcOrd="2" destOrd="0" parTransId="{80E027A1-BEDE-4C67-9920-38CF7B8BB765}" sibTransId="{4D23C59E-D24C-4787-8109-0251CEAB4E67}"/>
    <dgm:cxn modelId="{9C2CB584-B2D0-4F4F-9571-CC0A662EA4DE}" srcId="{E384EE08-9FAA-4588-A0A4-67E3236E08B7}" destId="{4A38FF91-C4FD-4B89-889A-884DFF5ACA3C}" srcOrd="3" destOrd="0" parTransId="{2136A192-9796-420D-9877-328361D692DB}" sibTransId="{DCB1E4C8-0148-4601-9BE8-624DE235BA72}"/>
    <dgm:cxn modelId="{7E4FEF9A-5470-4592-A44A-76AE969C2441}" type="presOf" srcId="{E384EE08-9FAA-4588-A0A4-67E3236E08B7}" destId="{D8C3DE9D-8BC7-4E9F-8A31-AB83C293A86A}" srcOrd="0" destOrd="0" presId="urn:microsoft.com/office/officeart/2005/8/layout/vList5"/>
    <dgm:cxn modelId="{D794F39D-FC09-4FA7-801A-333B72D49847}" type="presOf" srcId="{08E91139-2C05-4CA6-90E4-450635BC0D30}" destId="{CEF43261-F80E-497F-B743-8B845185815F}" srcOrd="0" destOrd="0" presId="urn:microsoft.com/office/officeart/2005/8/layout/vList5"/>
    <dgm:cxn modelId="{962D60C7-D1B3-47DE-B4D5-76D0DFDB86F6}" srcId="{E384EE08-9FAA-4588-A0A4-67E3236E08B7}" destId="{A7B60C4B-223B-48E6-A067-7024E3C93F47}" srcOrd="0" destOrd="0" parTransId="{3A4F0B15-0C9B-4B93-93E9-A329D0512C74}" sibTransId="{333CCDA3-2E27-4A82-A685-DB321C5BB7AE}"/>
    <dgm:cxn modelId="{FCCA77EA-3F14-4482-8DF4-4943E2670B5E}" type="presOf" srcId="{A7B60C4B-223B-48E6-A067-7024E3C93F47}" destId="{D97A773A-EA0A-44D5-9B30-F78FBBA3D5B5}" srcOrd="0" destOrd="0" presId="urn:microsoft.com/office/officeart/2005/8/layout/vList5"/>
    <dgm:cxn modelId="{6C7148B5-F0CA-4537-BA38-04C90C6C4494}" type="presParOf" srcId="{D8C3DE9D-8BC7-4E9F-8A31-AB83C293A86A}" destId="{7945A3DD-1A86-493A-868A-193ADED2169F}" srcOrd="0" destOrd="0" presId="urn:microsoft.com/office/officeart/2005/8/layout/vList5"/>
    <dgm:cxn modelId="{1F44F542-676A-4665-9162-0E700A03DFC7}" type="presParOf" srcId="{7945A3DD-1A86-493A-868A-193ADED2169F}" destId="{D97A773A-EA0A-44D5-9B30-F78FBBA3D5B5}" srcOrd="0" destOrd="0" presId="urn:microsoft.com/office/officeart/2005/8/layout/vList5"/>
    <dgm:cxn modelId="{DCB3BCE0-2DEB-483D-BC05-643F8048F758}" type="presParOf" srcId="{D8C3DE9D-8BC7-4E9F-8A31-AB83C293A86A}" destId="{11E99086-4E78-4877-81A0-4097B372A486}" srcOrd="1" destOrd="0" presId="urn:microsoft.com/office/officeart/2005/8/layout/vList5"/>
    <dgm:cxn modelId="{EDE71DFC-CD13-446A-BE34-E56D28877191}" type="presParOf" srcId="{D8C3DE9D-8BC7-4E9F-8A31-AB83C293A86A}" destId="{5593D870-F52F-481F-A04F-819E5912A7A3}" srcOrd="2" destOrd="0" presId="urn:microsoft.com/office/officeart/2005/8/layout/vList5"/>
    <dgm:cxn modelId="{F1CEB228-165C-420E-ABC9-3E244BF161BC}" type="presParOf" srcId="{5593D870-F52F-481F-A04F-819E5912A7A3}" destId="{CEF43261-F80E-497F-B743-8B845185815F}" srcOrd="0" destOrd="0" presId="urn:microsoft.com/office/officeart/2005/8/layout/vList5"/>
    <dgm:cxn modelId="{10EA8CEF-CC2F-43B3-BA82-D3B9DC16EE03}" type="presParOf" srcId="{D8C3DE9D-8BC7-4E9F-8A31-AB83C293A86A}" destId="{40AB059A-D18B-46E3-938F-07048732A012}" srcOrd="3" destOrd="0" presId="urn:microsoft.com/office/officeart/2005/8/layout/vList5"/>
    <dgm:cxn modelId="{9A2A098A-AD3D-4172-9BDB-9191C34D54CD}" type="presParOf" srcId="{D8C3DE9D-8BC7-4E9F-8A31-AB83C293A86A}" destId="{40CED300-F2F8-49C3-87C1-355A7A919FE1}" srcOrd="4" destOrd="0" presId="urn:microsoft.com/office/officeart/2005/8/layout/vList5"/>
    <dgm:cxn modelId="{F9624F43-A3D0-4187-B9AB-6D2F6B3D928F}" type="presParOf" srcId="{40CED300-F2F8-49C3-87C1-355A7A919FE1}" destId="{F81D6BFD-D42A-45EA-BD31-C4D70F6F2442}" srcOrd="0" destOrd="0" presId="urn:microsoft.com/office/officeart/2005/8/layout/vList5"/>
    <dgm:cxn modelId="{070A0688-FEE0-4672-9CE4-70C7566806C0}" type="presParOf" srcId="{D8C3DE9D-8BC7-4E9F-8A31-AB83C293A86A}" destId="{D11C543E-DADE-4AD8-8F86-18EC78D302B6}" srcOrd="5" destOrd="0" presId="urn:microsoft.com/office/officeart/2005/8/layout/vList5"/>
    <dgm:cxn modelId="{F8DB7EF5-3A18-46E9-8A3A-B75A4CB3AAEC}" type="presParOf" srcId="{D8C3DE9D-8BC7-4E9F-8A31-AB83C293A86A}" destId="{907067E3-DF1F-4094-8790-93235C1C025B}" srcOrd="6" destOrd="0" presId="urn:microsoft.com/office/officeart/2005/8/layout/vList5"/>
    <dgm:cxn modelId="{1D2EFB31-E1C8-48E1-A3B4-16923EC479CB}" type="presParOf" srcId="{907067E3-DF1F-4094-8790-93235C1C025B}" destId="{0E69A993-4B4D-49D7-B56A-8F8F5F28D09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7A773A-EA0A-44D5-9B30-F78FBBA3D5B5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survey was conducted by interviewing 82 workers of our company.</a:t>
          </a:r>
        </a:p>
      </dsp:txBody>
      <dsp:txXfrm>
        <a:off x="3416125" y="53310"/>
        <a:ext cx="3683350" cy="945199"/>
      </dsp:txXfrm>
    </dsp:sp>
    <dsp:sp modelId="{CEF43261-F80E-497F-B743-8B845185815F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 took every worker in the middle of the day and asked to fill the form out for possible better treatment</a:t>
          </a:r>
        </a:p>
      </dsp:txBody>
      <dsp:txXfrm>
        <a:off x="3416125" y="1153149"/>
        <a:ext cx="3683350" cy="945199"/>
      </dsp:txXfrm>
    </dsp:sp>
    <dsp:sp modelId="{F81D6BFD-D42A-45EA-BD31-C4D70F6F2442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 the participants got movie tickets for their effort</a:t>
          </a:r>
        </a:p>
      </dsp:txBody>
      <dsp:txXfrm>
        <a:off x="3416125" y="2252988"/>
        <a:ext cx="3683350" cy="945199"/>
      </dsp:txXfrm>
    </dsp:sp>
    <dsp:sp modelId="{0E69A993-4B4D-49D7-B56A-8F8F5F28D095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Survey is in the middle of processing and after we </a:t>
          </a:r>
          <a:r>
            <a:rPr lang="en-US" sz="1700" kern="1200" dirty="0" err="1"/>
            <a:t>gonna</a:t>
          </a:r>
          <a:r>
            <a:rPr lang="en-US" sz="1700" kern="1200" dirty="0"/>
            <a:t> provide possible changes in company.</a:t>
          </a:r>
        </a:p>
      </dsp:txBody>
      <dsp:txXfrm>
        <a:off x="3416125" y="3352827"/>
        <a:ext cx="3683350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3B0F4-0A3E-496C-80FD-9FF00EBB0171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D4102-B4B2-4E08-8BB7-2A6B27F05721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8450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D4102-B4B2-4E08-8BB7-2A6B27F05721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5250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19E6055-276F-F318-368D-2C05D834B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7B5209A8-6CBF-D12A-FD9D-08B03FD6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C8A8D8D-1410-5351-2F23-11F0B9140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5EEF6849-711A-5229-E1B6-5EAD9F07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3931592-F913-FCBD-F58F-6C574EF3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71764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03F7190-0C48-8219-FB7D-3CB38D8C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DC94A0E-3DD8-6BA1-6768-B6B8EA48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E74949A-95BC-5178-D117-7FF27B05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B911D3C-723B-D47C-E7FE-266D1AF9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E7AB9A8-652E-7F71-FF0F-0C6A1214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2310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2432EA-8B7A-D3D5-04D5-DAFB3954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360215F4-6758-1DA1-0093-9F867AB87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5F634D0-6EC8-1069-8A3E-747383A1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CA5750F-3F41-89D8-99D6-EF1D0FEE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7285AC9-4215-C051-97B7-BCA1D1FE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0710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E123767-C027-A59D-35E4-6CA7AE1D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D7CDB03-E71C-FE2B-9768-C3CA86103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AE58F2A7-D6BB-467C-5E93-B9BD7CFA0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830FBC9-C0B3-7CA5-552E-B2271FDC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68DB411-FFF1-6CBC-AC3A-16E3A3BCC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9C48822D-F758-9DE8-C9C6-21092EEC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6891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B32AAC5-A540-3CFC-566B-435D93F4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C5AFA0B6-A9C1-5591-AE03-8FDA15E8D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E5123442-4F73-E540-4609-49689B1C0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9F37EF05-3996-5B98-9312-14ACDE73A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D001255F-AC9E-AFEA-5FE5-A57B2F8C4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65C46424-EFF5-C0B1-BD32-2371568A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F729B70C-1653-F47A-1F39-46D4121D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B143E385-17E3-54BC-BC0F-670A12D3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7326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D4E8861-0A8D-7F9A-351B-202A95F0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F155E9DE-BCE2-3035-DF64-64E0B2E6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35EAD2C4-DCCF-9C8A-A589-D590DC8DA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59DB6931-23C0-4F90-945B-25960448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3846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E264B13E-50E4-D5FE-5429-FED0F6FE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D72213C4-B0A6-D805-7126-B6F3DE59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FC93FB0D-2886-3C29-4A79-30419099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561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5ACCF76-DDF6-A410-853E-D16ACD95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CA2F862-3E40-1DA2-2EAC-B8A7DDCF8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F10F95AC-4AF9-71F8-5781-B9F91F200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3F102A9-C69E-25C9-AE39-EAF9E312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224E9D45-3918-F758-B55B-D77CAA9E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9D648007-0ECE-E464-F59A-B39F3CCB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9961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94489BC-83B8-0338-011C-DC7A152D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F7F73DE4-2BE8-BDAF-B21E-5B867B275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2355E6E8-882F-500A-B1B8-07F18E597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242B400-FDEF-E1A8-C1DC-6FB1D57B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9B428FB-3F01-C4B5-DDC6-AB4A9993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4E6086D-C00A-5705-86F2-1E8B4AA7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3288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C0F3050-0F67-99D9-EC75-706C3258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BC09BD0D-C788-E839-2475-2BD6952FE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50E2169-53A2-6E29-66B8-DD3183EF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D84F9AE-5A5A-5FF9-2015-69FB0F95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B6863914-52CB-4831-9085-F13A43C6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7921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F33466FE-7E51-F24D-12DF-7E180FCC1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1B46FADE-562E-E567-83CB-210749FAB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F4081A5-08C9-DF30-0B3F-0D2E1113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8B1ACD0-15B2-956B-A313-5EEB187A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B20D0A0-F98D-A56F-DCAB-AC1F93F5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4945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65DCA898-46DD-8FD7-8DA9-8BFF6D48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FI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1045240-3235-0B33-48A4-277A63E59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3F15F6D-61FB-A397-A98D-87221630E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65187-8948-49F6-B33F-080D16A92B6F}" type="datetimeFigureOut">
              <a:rPr lang="en-FI" smtClean="0"/>
              <a:t>23/10/2026</a:t>
            </a:fld>
            <a:endParaRPr lang="en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A6F5B16-8D38-1F97-1DD8-FE0F28914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D38FDC2-0A24-3792-3E74-731545E4E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19FB9-A8C5-416B-B27C-671A9BEDEC8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5386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47DDAAC-5A22-A7BE-FA09-328050DD2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reports for work place satisfaction	</a:t>
            </a:r>
            <a:endParaRPr lang="en-FI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D3F2AAF3-DE35-E164-52CA-76DD3B001E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Szymon Szuwarowski</a:t>
            </a:r>
          </a:p>
          <a:p>
            <a:r>
              <a:rPr lang="en-US" dirty="0"/>
              <a:t>Viljami Lindholm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50493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58A745-74F8-3AB6-252D-0E78022AE8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205" b="1525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EFC3993-B6C4-79A7-8195-3A439D5E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Background of the survey</a:t>
            </a:r>
            <a:endParaRPr lang="en-FI" dirty="0"/>
          </a:p>
        </p:txBody>
      </p:sp>
      <p:graphicFrame>
        <p:nvGraphicFramePr>
          <p:cNvPr id="5" name="Sisällön paikkamerkki 2">
            <a:extLst>
              <a:ext uri="{FF2B5EF4-FFF2-40B4-BE49-F238E27FC236}">
                <a16:creationId xmlns:a16="http://schemas.microsoft.com/office/drawing/2014/main" id="{1986E0CB-5415-D04B-9A0B-69D27D2F9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0138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45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49D4887-8F1D-522D-C7DC-BCD5E473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of the survey</a:t>
            </a:r>
            <a:endParaRPr lang="en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8327FD1-0FD5-E9A8-FA42-8A551CD9D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76074" cy="4351338"/>
          </a:xfrm>
        </p:spPr>
        <p:txBody>
          <a:bodyPr>
            <a:normAutofit/>
          </a:bodyPr>
          <a:lstStyle/>
          <a:p>
            <a:pPr marL="285750" lvl="0">
              <a:spcBef>
                <a:spcPts val="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Background variables 1-7</a:t>
            </a:r>
            <a:endParaRPr lang="en-US" sz="200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285750" lvl="0">
              <a:spcBef>
                <a:spcPts val="6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Variables of main interest 8-12 (Likert scale)</a:t>
            </a:r>
          </a:p>
          <a:p>
            <a:pPr marL="285750" lvl="0">
              <a:spcBef>
                <a:spcPts val="6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Arial"/>
              </a:rPr>
              <a:t>Variables of main interest13-16 (1= ever used service, blank = service never used)</a:t>
            </a:r>
            <a:endParaRPr lang="en-US" sz="200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graphicFrame>
        <p:nvGraphicFramePr>
          <p:cNvPr id="5" name="Taulukko 4">
            <a:extLst>
              <a:ext uri="{FF2B5EF4-FFF2-40B4-BE49-F238E27FC236}">
                <a16:creationId xmlns:a16="http://schemas.microsoft.com/office/drawing/2014/main" id="{A93F0397-C732-B7DC-3BCA-69F6DCD78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61524"/>
              </p:ext>
            </p:extLst>
          </p:nvPr>
        </p:nvGraphicFramePr>
        <p:xfrm>
          <a:off x="4064002" y="1184887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942">
                  <a:extLst>
                    <a:ext uri="{9D8B030D-6E8A-4147-A177-3AD203B41FA5}">
                      <a16:colId xmlns:a16="http://schemas.microsoft.com/office/drawing/2014/main" val="804256863"/>
                    </a:ext>
                  </a:extLst>
                </a:gridCol>
                <a:gridCol w="748845">
                  <a:extLst>
                    <a:ext uri="{9D8B030D-6E8A-4147-A177-3AD203B41FA5}">
                      <a16:colId xmlns:a16="http://schemas.microsoft.com/office/drawing/2014/main" val="3646040031"/>
                    </a:ext>
                  </a:extLst>
                </a:gridCol>
                <a:gridCol w="6176212">
                  <a:extLst>
                    <a:ext uri="{9D8B030D-6E8A-4147-A177-3AD203B41FA5}">
                      <a16:colId xmlns:a16="http://schemas.microsoft.com/office/drawing/2014/main" val="4177817411"/>
                    </a:ext>
                  </a:extLst>
                </a:gridCol>
              </a:tblGrid>
              <a:tr h="304939">
                <a:tc>
                  <a:txBody>
                    <a:bodyPr/>
                    <a:lstStyle/>
                    <a:p>
                      <a:r>
                        <a:rPr lang="en-US" dirty="0"/>
                        <a:t>Variables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number</a:t>
                      </a:r>
                      <a:endParaRPr lang="en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Id of person filling out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63779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 (1= woman, 2=man)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881631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 (Years)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572053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Family (persons)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4333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Education (Level of education 1= Primary school, 2= vocational school or similar, 3= secondary school graduate, 4= applied science university, 5 = other university)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07651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years_of_service</a:t>
                      </a:r>
                      <a:r>
                        <a:rPr lang="en-US" dirty="0"/>
                        <a:t> (years)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36731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Salary (€/month)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922478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sat_management</a:t>
                      </a:r>
                      <a:r>
                        <a:rPr lang="en-US" dirty="0"/>
                        <a:t> (scale 1-5)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448057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sat_colleques</a:t>
                      </a:r>
                      <a:r>
                        <a:rPr lang="en-US" dirty="0"/>
                        <a:t> (scale 1-5)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897249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sat_workingEnvironment</a:t>
                      </a:r>
                      <a:r>
                        <a:rPr lang="en-US" dirty="0"/>
                        <a:t> (scale 1-5)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107731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sat_salary</a:t>
                      </a:r>
                      <a:r>
                        <a:rPr lang="en-US" dirty="0"/>
                        <a:t> (scale 1-5)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034556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sat_tasks</a:t>
                      </a:r>
                      <a:r>
                        <a:rPr lang="en-US" dirty="0"/>
                        <a:t> (scale 1-5)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275759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Healtcare</a:t>
                      </a:r>
                      <a:r>
                        <a:rPr lang="en-US" dirty="0"/>
                        <a:t> (1= have used, blank = haven’t used)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819500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holidayCabin</a:t>
                      </a:r>
                      <a:r>
                        <a:rPr lang="en-US" dirty="0"/>
                        <a:t> (1= have used, blank = haven’t used)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97997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Gym (1= have used, blank = haven’t used)</a:t>
                      </a:r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660819"/>
                  </a:ext>
                </a:extLst>
              </a:tr>
              <a:tr h="304939">
                <a:tc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muscleCare</a:t>
                      </a:r>
                      <a:r>
                        <a:rPr lang="en-US" dirty="0"/>
                        <a:t> (1= have used, blank = haven’t used)</a:t>
                      </a:r>
                      <a:endParaRPr lang="en-FI" dirty="0"/>
                    </a:p>
                    <a:p>
                      <a:endParaRPr lang="en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0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68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2B5C24F-1ECB-3563-ED54-6D527CC3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info from describe table here</a:t>
            </a:r>
            <a:endParaRPr lang="en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A701F28-9692-0D1F-B7F7-4BDA7F3F7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dk1"/>
              </a:buClr>
              <a:buSzPts val="1800"/>
            </a:pPr>
            <a:r>
              <a:rPr lang="en-US" dirty="0"/>
              <a:t>Also provide interpretations and discussion (shortly on video also)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0678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0C888C12-0134-807E-7624-100CC244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FI" sz="4800"/>
              <a:t>Descriptive Statistics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F8962A2B-6C94-E780-CD0D-C680032F2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3260406"/>
            <a:ext cx="5150277" cy="2242862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92DE559-BF57-A44B-E3D2-DA05E3D83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FI" sz="2000"/>
              <a:t>Overview of the respondents' age and satisfaction levels across management, salary, and working environment</a:t>
            </a:r>
          </a:p>
          <a:p>
            <a:pPr marL="0" indent="0">
              <a:buNone/>
            </a:pPr>
            <a:endParaRPr lang="en-FI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84B467FE-DB5E-D993-9227-500AEF27045A}"/>
              </a:ext>
            </a:extLst>
          </p:cNvPr>
          <p:cNvSpPr txBox="1"/>
          <p:nvPr/>
        </p:nvSpPr>
        <p:spPr>
          <a:xfrm>
            <a:off x="11049000" y="1905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Szymon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0643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A698D72-7CA0-B1E7-E8E5-6C0AA2A5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Overall Satisfaction Trends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E25E9D9-1C65-EEB6-A6CD-BBAFEC206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The data shows that the working environment has the highest average rating, while salary satisfaction remains the lowest among employees.</a:t>
            </a:r>
          </a:p>
          <a:p>
            <a:pPr marL="0" indent="0">
              <a:buNone/>
            </a:pPr>
            <a:endParaRPr lang="en-FI" dirty="0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5122DB40-832F-FC7C-AA43-A43B7D5FB749}"/>
              </a:ext>
            </a:extLst>
          </p:cNvPr>
          <p:cNvSpPr txBox="1"/>
          <p:nvPr/>
        </p:nvSpPr>
        <p:spPr>
          <a:xfrm>
            <a:off x="11049000" y="1905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Szymon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72611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9EEC5EB-AA56-15E0-D31D-1B3845A7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FI" sz="4100"/>
              <a:t>Age Distribution of Employees</a:t>
            </a:r>
            <a:br>
              <a:rPr lang="en-FI" sz="4100"/>
            </a:br>
            <a:endParaRPr lang="en-FI" sz="41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C7FCBE70-90EF-9F1B-D843-110983CCE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37" y="2524715"/>
            <a:ext cx="4474993" cy="3714244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3BB21DB-AF8E-6F35-9A4F-5B9BBEC6F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FI" sz="2000"/>
              <a:t>A visual representation of age spread, </a:t>
            </a:r>
            <a:r>
              <a:rPr lang="en-US" sz="2000"/>
              <a:t>blue box representing most workers age and the black line form youngest to oldest</a:t>
            </a:r>
            <a:r>
              <a:rPr lang="en-FI" sz="2000"/>
              <a:t>.</a:t>
            </a:r>
          </a:p>
          <a:p>
            <a:pPr marL="0" indent="0">
              <a:buNone/>
            </a:pPr>
            <a:endParaRPr lang="en-FI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0E687B2B-3739-FD16-7C3E-5657F56C01FD}"/>
              </a:ext>
            </a:extLst>
          </p:cNvPr>
          <p:cNvSpPr txBox="1"/>
          <p:nvPr/>
        </p:nvSpPr>
        <p:spPr>
          <a:xfrm>
            <a:off x="11049000" y="1905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Szymon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05795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6332CAC8-05B0-90D2-C28B-84EC72AD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FI" sz="4100"/>
              <a:t>Gender Distribution Table</a:t>
            </a:r>
            <a:br>
              <a:rPr lang="en-FI" sz="4100"/>
            </a:br>
            <a:endParaRPr lang="en-FI" sz="41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Kuva 12">
            <a:extLst>
              <a:ext uri="{FF2B5EF4-FFF2-40B4-BE49-F238E27FC236}">
                <a16:creationId xmlns:a16="http://schemas.microsoft.com/office/drawing/2014/main" id="{010BA431-FC2C-B6AD-206E-A24D33B7F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807399"/>
            <a:ext cx="5150277" cy="3148876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D606925-53BD-2810-5DD0-EF5ED3897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FI" sz="2000" dirty="0"/>
              <a:t>Breakdown of the survey respondents by gender, displaying exact counts (n) and percentage shares.</a:t>
            </a:r>
          </a:p>
          <a:p>
            <a:pPr marL="0" indent="0">
              <a:buNone/>
            </a:pPr>
            <a:endParaRPr lang="en-FI" sz="2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3DEB88EA-0D1E-D3B8-F0B9-941D1BBD2C0F}"/>
              </a:ext>
            </a:extLst>
          </p:cNvPr>
          <p:cNvSpPr txBox="1"/>
          <p:nvPr/>
        </p:nvSpPr>
        <p:spPr>
          <a:xfrm>
            <a:off x="10401300" y="209550"/>
            <a:ext cx="179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Szymon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39436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5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BE149CDF-5DAC-4860-A285-9492CF20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C2B19B96-2D2B-85D9-20D1-D6EC6BC0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5011"/>
            <a:ext cx="3629555" cy="1889135"/>
          </a:xfrm>
        </p:spPr>
        <p:txBody>
          <a:bodyPr anchor="b">
            <a:normAutofit/>
          </a:bodyPr>
          <a:lstStyle/>
          <a:p>
            <a:r>
              <a:rPr lang="en-FI" sz="4100"/>
              <a:t>Gender Demographics</a:t>
            </a:r>
            <a:br>
              <a:rPr lang="en-FI" sz="4100"/>
            </a:br>
            <a:endParaRPr lang="en-FI" sz="410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223DF65-176E-E068-0AFA-2D823E9F9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2965592"/>
            <a:ext cx="3629555" cy="2987397"/>
          </a:xfrm>
        </p:spPr>
        <p:txBody>
          <a:bodyPr>
            <a:normAutofit/>
          </a:bodyPr>
          <a:lstStyle/>
          <a:p>
            <a:r>
              <a:rPr lang="en-FI" sz="1800"/>
              <a:t>Visualizing the gender split in our sample.</a:t>
            </a:r>
          </a:p>
          <a:p>
            <a:pPr marL="0" indent="0">
              <a:buNone/>
            </a:pPr>
            <a:endParaRPr lang="en-FI" sz="1800"/>
          </a:p>
        </p:txBody>
      </p:sp>
      <p:pic>
        <p:nvPicPr>
          <p:cNvPr id="11" name="Kuva 10">
            <a:extLst>
              <a:ext uri="{FF2B5EF4-FFF2-40B4-BE49-F238E27FC236}">
                <a16:creationId xmlns:a16="http://schemas.microsoft.com/office/drawing/2014/main" id="{F4FD49CB-6E62-C63E-13DE-94317C5115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4" r="5573" b="-1"/>
          <a:stretch>
            <a:fillRect/>
          </a:stretch>
        </p:blipFill>
        <p:spPr>
          <a:xfrm>
            <a:off x="5359151" y="895610"/>
            <a:ext cx="6107166" cy="5058020"/>
          </a:xfrm>
          <a:prstGeom prst="rect">
            <a:avLst/>
          </a:prstGeom>
        </p:spPr>
      </p:pic>
      <p:sp>
        <p:nvSpPr>
          <p:cNvPr id="15" name="Tekstiruutu 14">
            <a:extLst>
              <a:ext uri="{FF2B5EF4-FFF2-40B4-BE49-F238E27FC236}">
                <a16:creationId xmlns:a16="http://schemas.microsoft.com/office/drawing/2014/main" id="{DE633310-489C-AB37-29C5-74C0626316AC}"/>
              </a:ext>
            </a:extLst>
          </p:cNvPr>
          <p:cNvSpPr txBox="1"/>
          <p:nvPr/>
        </p:nvSpPr>
        <p:spPr>
          <a:xfrm>
            <a:off x="10744200" y="91959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Szymon</a:t>
            </a:r>
            <a:endParaRPr lang="en-FI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29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2EECDEE-F1EB-A6C9-79AD-5393ED20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FI" sz="4100"/>
              <a:t>Age Categorization</a:t>
            </a:r>
            <a:br>
              <a:rPr lang="en-FI" sz="4100"/>
            </a:br>
            <a:endParaRPr lang="en-FI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34322358-692B-E1BC-79E4-1D393DC96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13" y="2524715"/>
            <a:ext cx="3919640" cy="3714244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F773973-C09D-5A73-202E-99455F14C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FI" sz="2000"/>
              <a:t>Employees were divided into specific age brackets (20-30, 30-40, etc.) to identify trends across different life stages.</a:t>
            </a:r>
          </a:p>
          <a:p>
            <a:endParaRPr lang="en-FI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34DE4895-FE45-0D2E-989E-06AD944BD696}"/>
              </a:ext>
            </a:extLst>
          </p:cNvPr>
          <p:cNvSpPr txBox="1"/>
          <p:nvPr/>
        </p:nvSpPr>
        <p:spPr>
          <a:xfrm>
            <a:off x="10401300" y="209550"/>
            <a:ext cx="179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Szymon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302385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91C79B2-6E22-2089-4133-C6AF99DD5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FI" sz="4100"/>
              <a:t>Age Group Distribution</a:t>
            </a:r>
            <a:br>
              <a:rPr lang="en-FI" sz="4100"/>
            </a:br>
            <a:endParaRPr lang="en-FI" sz="4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AE68FF06-2C86-97E9-91C8-811F1D77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52" y="2524715"/>
            <a:ext cx="4887163" cy="3714244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5A4151C-A0B4-13F2-62A2-70BA21436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FI" sz="2000"/>
              <a:t>Histogram showing the frequency of employees within each defined age bracket.</a:t>
            </a:r>
          </a:p>
          <a:p>
            <a:pPr marL="0" indent="0">
              <a:buNone/>
            </a:pPr>
            <a:endParaRPr lang="en-FI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A619A70C-8839-24C3-CAB8-730C099E1C1E}"/>
              </a:ext>
            </a:extLst>
          </p:cNvPr>
          <p:cNvSpPr txBox="1"/>
          <p:nvPr/>
        </p:nvSpPr>
        <p:spPr>
          <a:xfrm>
            <a:off x="10401300" y="209550"/>
            <a:ext cx="179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Szymon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9635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7BD716B2-15F2-CFF6-480E-6915633D1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FI" sz="4000" dirty="0"/>
              <a:t>Age Groups by Gender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BD98729-0F40-B8C5-D93A-5E2EF1FB3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23754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FI" sz="2000" dirty="0"/>
              <a:t>Crosstabulation comparing the age distribution between male and female respondents.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3DE496D9-C60C-CBF4-8B36-C0A73800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855" y="774285"/>
            <a:ext cx="2936743" cy="2581173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3AB622BF-20BA-FB63-6434-4EA22C908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211" y="3575074"/>
            <a:ext cx="3610032" cy="2581173"/>
          </a:xfrm>
          <a:prstGeom prst="rect">
            <a:avLst/>
          </a:prstGeom>
        </p:spPr>
      </p:pic>
      <p:sp>
        <p:nvSpPr>
          <p:cNvPr id="9" name="Tekstiruutu 8">
            <a:extLst>
              <a:ext uri="{FF2B5EF4-FFF2-40B4-BE49-F238E27FC236}">
                <a16:creationId xmlns:a16="http://schemas.microsoft.com/office/drawing/2014/main" id="{03ADED86-78F5-F887-FA3E-165924322CE1}"/>
              </a:ext>
            </a:extLst>
          </p:cNvPr>
          <p:cNvSpPr txBox="1"/>
          <p:nvPr/>
        </p:nvSpPr>
        <p:spPr>
          <a:xfrm>
            <a:off x="10401300" y="209550"/>
            <a:ext cx="179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Szymon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23318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D901B3B-1165-E7AC-AC33-C5A4124A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FI" dirty="0"/>
              <a:t>Statistical Significance</a:t>
            </a:r>
            <a:r>
              <a:rPr lang="en-US" dirty="0"/>
              <a:t> of gender vs. environment satisfaction</a:t>
            </a:r>
            <a:br>
              <a:rPr lang="en-FI" dirty="0"/>
            </a:br>
            <a:endParaRPr lang="en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A15B9627-E4C2-1DAE-F0AA-0C742ABC6E0A}"/>
              </a:ext>
            </a:extLst>
          </p:cNvPr>
          <p:cNvSpPr txBox="1"/>
          <p:nvPr/>
        </p:nvSpPr>
        <p:spPr>
          <a:xfrm>
            <a:off x="10401300" y="209550"/>
            <a:ext cx="179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Szymon</a:t>
            </a:r>
            <a:endParaRPr lang="en-FI" dirty="0"/>
          </a:p>
        </p:txBody>
      </p:sp>
      <p:pic>
        <p:nvPicPr>
          <p:cNvPr id="17" name="Kuva 16">
            <a:extLst>
              <a:ext uri="{FF2B5EF4-FFF2-40B4-BE49-F238E27FC236}">
                <a16:creationId xmlns:a16="http://schemas.microsoft.com/office/drawing/2014/main" id="{23BE7193-17B9-967D-FC33-F19DE244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241578"/>
            <a:ext cx="6248400" cy="1209369"/>
          </a:xfrm>
          <a:prstGeom prst="rect">
            <a:avLst/>
          </a:prstGeom>
        </p:spPr>
      </p:pic>
      <p:sp>
        <p:nvSpPr>
          <p:cNvPr id="20" name="Tekstiruutu 19">
            <a:extLst>
              <a:ext uri="{FF2B5EF4-FFF2-40B4-BE49-F238E27FC236}">
                <a16:creationId xmlns:a16="http://schemas.microsoft.com/office/drawing/2014/main" id="{69002652-9F82-DC63-4DD8-CF2244C0D37C}"/>
              </a:ext>
            </a:extLst>
          </p:cNvPr>
          <p:cNvSpPr txBox="1"/>
          <p:nvPr/>
        </p:nvSpPr>
        <p:spPr>
          <a:xfrm>
            <a:off x="787400" y="2295372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FI" dirty="0"/>
              <a:t>Chi-square test</a:t>
            </a:r>
            <a:r>
              <a:rPr lang="en-US" dirty="0"/>
              <a:t> gender vs. environment satisfaction result was 0.0092</a:t>
            </a:r>
          </a:p>
          <a:p>
            <a:r>
              <a:rPr lang="en-US" dirty="0"/>
              <a:t>The chi test tells us that there is </a:t>
            </a:r>
            <a:r>
              <a:rPr lang="en-FI" dirty="0"/>
              <a:t>statistically significant dependency </a:t>
            </a:r>
            <a:r>
              <a:rPr lang="en-US" dirty="0"/>
              <a:t>in woman and men</a:t>
            </a:r>
          </a:p>
          <a:p>
            <a:r>
              <a:rPr lang="en-US" dirty="0"/>
              <a:t>rate of work environment. Meaning woman has rated the environment</a:t>
            </a:r>
          </a:p>
          <a:p>
            <a:r>
              <a:rPr lang="en-US" dirty="0"/>
              <a:t>lower then the other.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038476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061C5FEC-9D60-7663-C712-F07FB944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625" y="2356685"/>
            <a:ext cx="9435702" cy="938496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B472CC4-B9B3-7E91-9232-6452C50B9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3532240"/>
            <a:ext cx="9804575" cy="25968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FI" sz="2000" b="1" dirty="0"/>
              <a:t>T-Test (Gender vs. Salary Satisfaction):</a:t>
            </a:r>
            <a:r>
              <a:rPr lang="en-FI" sz="2000" dirty="0"/>
              <a:t> p = 0.0019</a:t>
            </a:r>
            <a:endParaRPr lang="en-US" sz="2000" dirty="0"/>
          </a:p>
          <a:p>
            <a:pPr marL="0" indent="0" algn="ctr">
              <a:buNone/>
            </a:pPr>
            <a:r>
              <a:rPr lang="en-FI" sz="2000" dirty="0"/>
              <a:t>Because p-value was 0.0019, the t-test tells that the difference in average salary satisfaction between men and women </a:t>
            </a:r>
            <a:r>
              <a:rPr lang="en-US" sz="2000" dirty="0"/>
              <a:t>almost statistically very </a:t>
            </a:r>
            <a:r>
              <a:rPr lang="en-US" sz="2000"/>
              <a:t>significant dependency. </a:t>
            </a:r>
            <a:r>
              <a:rPr lang="en-US" sz="2000" dirty="0"/>
              <a:t>With woman average satisfaction score being lower.</a:t>
            </a:r>
            <a:endParaRPr lang="en-FI" sz="2000" dirty="0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CCDF0D70-EE72-DF22-FE7F-F42439AEFEE9}"/>
              </a:ext>
            </a:extLst>
          </p:cNvPr>
          <p:cNvSpPr txBox="1"/>
          <p:nvPr/>
        </p:nvSpPr>
        <p:spPr>
          <a:xfrm>
            <a:off x="1376625" y="544247"/>
            <a:ext cx="94357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3200" b="1" dirty="0"/>
              <a:t>Statistical Significance</a:t>
            </a:r>
            <a:r>
              <a:rPr lang="en-US" sz="3200" b="1" dirty="0"/>
              <a:t> of gender vs. Salary Satisfaction</a:t>
            </a:r>
            <a:endParaRPr lang="en-FI" sz="3200" b="1" dirty="0"/>
          </a:p>
        </p:txBody>
      </p:sp>
    </p:spTree>
    <p:extLst>
      <p:ext uri="{BB962C8B-B14F-4D97-AF65-F5344CB8AC3E}">
        <p14:creationId xmlns:p14="http://schemas.microsoft.com/office/powerpoint/2010/main" val="222901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D13D2270-16CD-0790-55E6-01883DCB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fi-FI"/>
              <a:t>Family status categorization </a:t>
            </a:r>
            <a:endParaRPr lang="fi-FI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Sisällön paikkamerkki 3">
            <a:extLst>
              <a:ext uri="{FF2B5EF4-FFF2-40B4-BE49-F238E27FC236}">
                <a16:creationId xmlns:a16="http://schemas.microsoft.com/office/drawing/2014/main" id="{56A80554-AF8B-0222-FEF0-E7EEDEED2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360037"/>
            <a:ext cx="4777381" cy="39681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995345-4E32-D8E0-0117-B92964236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Labels for categorys. </a:t>
            </a:r>
            <a:endParaRPr lang="fi-FI"/>
          </a:p>
          <a:p>
            <a:r>
              <a:rPr lang="en-US"/>
              <a:t>1 = Single </a:t>
            </a:r>
            <a:endParaRPr lang="en-US" dirty="0"/>
          </a:p>
          <a:p>
            <a:r>
              <a:rPr lang="en-US"/>
              <a:t>2 = Not single</a:t>
            </a:r>
            <a:endParaRPr lang="en-US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3CD25B15-8A0F-EBFB-B6B0-9150DD32082F}"/>
              </a:ext>
            </a:extLst>
          </p:cNvPr>
          <p:cNvSpPr txBox="1"/>
          <p:nvPr/>
        </p:nvSpPr>
        <p:spPr>
          <a:xfrm>
            <a:off x="10848146" y="5512"/>
            <a:ext cx="17921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/>
              <a:t>Viljami Lindholm</a:t>
            </a:r>
          </a:p>
        </p:txBody>
      </p:sp>
    </p:spTree>
    <p:extLst>
      <p:ext uri="{BB962C8B-B14F-4D97-AF65-F5344CB8AC3E}">
        <p14:creationId xmlns:p14="http://schemas.microsoft.com/office/powerpoint/2010/main" val="1826168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0DF1994E-0A64-88EF-4A78-B4BB4371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fi-FI"/>
              <a:t>Years of service analysis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Sisällön paikkamerkki 3" descr="Kuva, joka sisältää kohteen teksti, diagrammi, viiva, Tontti&#10;&#10;Tekoälyllä luotu sisältö saattaa olla virheellistä.">
            <a:extLst>
              <a:ext uri="{FF2B5EF4-FFF2-40B4-BE49-F238E27FC236}">
                <a16:creationId xmlns:a16="http://schemas.microsoft.com/office/drawing/2014/main" id="{38078DB4-3B13-EE98-FF73-3B91931FA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469006"/>
            <a:ext cx="4777381" cy="375024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7" name="Sisällön paikkamerkki 6">
            <a:extLst>
              <a:ext uri="{FF2B5EF4-FFF2-40B4-BE49-F238E27FC236}">
                <a16:creationId xmlns:a16="http://schemas.microsoft.com/office/drawing/2014/main" id="{84F52147-E02B-A279-F862-BD5700621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The dataset contains 80 employees. Doing the math the average years of service is 12.18 years.</a:t>
            </a:r>
            <a:endParaRPr lang="fi-FI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A6603193-B956-80F2-8AAB-372A3012A31D}"/>
              </a:ext>
            </a:extLst>
          </p:cNvPr>
          <p:cNvSpPr txBox="1"/>
          <p:nvPr/>
        </p:nvSpPr>
        <p:spPr>
          <a:xfrm>
            <a:off x="10952422" y="174237"/>
            <a:ext cx="17221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/>
              <a:t>Viljami Lindholm</a:t>
            </a:r>
          </a:p>
          <a:p>
            <a:pPr algn="l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295724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30D98D6-2B71-9940-422C-B514E25B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fi-FI" sz="3600"/>
              <a:t>Family status &amp; Colleaque satisfaction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Sisällön paikkamerkki 3">
            <a:extLst>
              <a:ext uri="{FF2B5EF4-FFF2-40B4-BE49-F238E27FC236}">
                <a16:creationId xmlns:a16="http://schemas.microsoft.com/office/drawing/2014/main" id="{7CF4E8CA-390D-CED0-3E4D-013C4DC7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8" r="2" b="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B3FDAB-5CC1-B35D-02FB-1DF07AE10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Segoe UI"/>
                <a:cs typeface="Segoe UI"/>
              </a:rPr>
              <a:t>This analysis compares family status and satisfaction with colleagues. Most responses are concentrated in the positive satisfaction categories, indicating generally good colleague relationships.</a:t>
            </a:r>
            <a:endParaRPr lang="en-US" sz="2000"/>
          </a:p>
          <a:p>
            <a:endParaRPr lang="en-US" sz="1800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F51768B5-FF56-0F9E-B0EC-73D0261938C8}"/>
              </a:ext>
            </a:extLst>
          </p:cNvPr>
          <p:cNvSpPr txBox="1"/>
          <p:nvPr/>
        </p:nvSpPr>
        <p:spPr>
          <a:xfrm>
            <a:off x="9773924" y="291204"/>
            <a:ext cx="21281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/>
              <a:t>Viljami Lindholm</a:t>
            </a:r>
          </a:p>
          <a:p>
            <a:pPr algn="l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90853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0E98E38-AEA3-C3C0-0995-5DF8A627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fi-FI">
                <a:solidFill>
                  <a:schemeClr val="bg1"/>
                </a:solidFill>
              </a:rPr>
              <a:t>Education analysis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Sisällön paikkamerkki 5" descr="Kuva, joka sisältää kohteen teksti, Fontti, kuvakaappaus, käsiala&#10;&#10;Tekoälyllä luotu sisältö saattaa olla virheellistä.">
            <a:extLst>
              <a:ext uri="{FF2B5EF4-FFF2-40B4-BE49-F238E27FC236}">
                <a16:creationId xmlns:a16="http://schemas.microsoft.com/office/drawing/2014/main" id="{84755D14-B05A-E097-82DC-F48E02F1F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0208" y="3793314"/>
            <a:ext cx="3904689" cy="1901638"/>
          </a:xfrm>
          <a:prstGeom prst="rect">
            <a:avLst/>
          </a:prstGeom>
        </p:spPr>
      </p:pic>
      <p:pic>
        <p:nvPicPr>
          <p:cNvPr id="5" name="Kuva 4" descr="Kuva, joka sisältää kohteen teksti, kuvakaappaus, diagrammi, Tontti&#10;&#10;Tekoälyllä luotu sisältö saattaa olla virheellistä.">
            <a:extLst>
              <a:ext uri="{FF2B5EF4-FFF2-40B4-BE49-F238E27FC236}">
                <a16:creationId xmlns:a16="http://schemas.microsoft.com/office/drawing/2014/main" id="{5090F96E-9E6E-9EDD-294B-B4575A4E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193" y="416439"/>
            <a:ext cx="3588640" cy="26914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5BFFBBA2-083A-03BF-ADF6-B16FF9F7F2E8}"/>
              </a:ext>
            </a:extLst>
          </p:cNvPr>
          <p:cNvSpPr txBox="1"/>
          <p:nvPr/>
        </p:nvSpPr>
        <p:spPr>
          <a:xfrm>
            <a:off x="1190077" y="2083188"/>
            <a:ext cx="437136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>
                <a:solidFill>
                  <a:srgbClr val="FFFFFF"/>
                </a:solidFill>
                <a:latin typeface="Segoe UI"/>
                <a:cs typeface="Segoe UI"/>
              </a:rPr>
              <a:t>The education variable shows the distribution of education levels among employees. The largest group represents the most common educational background within the company.</a:t>
            </a:r>
            <a:endParaRPr lang="fi-FI">
              <a:solidFill>
                <a:srgbClr val="FFFFFF"/>
              </a:solidFill>
            </a:endParaRPr>
          </a:p>
          <a:p>
            <a:pPr algn="l"/>
            <a:endParaRPr lang="fi-FI" dirty="0">
              <a:solidFill>
                <a:srgbClr val="FFFFFF"/>
              </a:solidFill>
            </a:endParaRP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3E705B52-F52C-B080-2CAB-46A2B60E64D6}"/>
              </a:ext>
            </a:extLst>
          </p:cNvPr>
          <p:cNvSpPr txBox="1"/>
          <p:nvPr/>
        </p:nvSpPr>
        <p:spPr>
          <a:xfrm>
            <a:off x="532034" y="322020"/>
            <a:ext cx="126008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>
                <a:solidFill>
                  <a:schemeClr val="bg1"/>
                </a:solidFill>
              </a:rPr>
              <a:t>Viljami Lindholm</a:t>
            </a:r>
          </a:p>
          <a:p>
            <a:pPr algn="l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368845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3AD3D2F5-D6AB-05FF-5D95-7CD6BAD1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i-FI" sz="4200"/>
              <a:t>Education &amp; Salary analysis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04639F-E9C0-E3FF-8054-C31E88E54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>
                <a:latin typeface="Segoe UI"/>
                <a:cs typeface="Segoe UI"/>
              </a:rPr>
              <a:t>This analysis examines whether salary differs across education levels. Higher education levels may be associated with higher average salaries.</a:t>
            </a:r>
            <a:endParaRPr lang="en-US" sz="2000"/>
          </a:p>
          <a:p>
            <a:endParaRPr lang="en-US" sz="2200" dirty="0"/>
          </a:p>
        </p:txBody>
      </p:sp>
      <p:pic>
        <p:nvPicPr>
          <p:cNvPr id="4" name="Sisällön paikkamerkki 3" descr="Kuva, joka sisältää kohteen teksti, kuvakaappaus, diagrammi, Tontti&#10;&#10;Tekoälyllä luotu sisältö saattaa olla virheellistä.">
            <a:extLst>
              <a:ext uri="{FF2B5EF4-FFF2-40B4-BE49-F238E27FC236}">
                <a16:creationId xmlns:a16="http://schemas.microsoft.com/office/drawing/2014/main" id="{ACAD3E91-77CA-113E-D3F5-1696F4FE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57364"/>
            <a:ext cx="6903720" cy="5143272"/>
          </a:xfrm>
          <a:prstGeom prst="rect">
            <a:avLst/>
          </a:prstGeom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836F83B0-4545-871F-6A4A-6BBBC090813C}"/>
              </a:ext>
            </a:extLst>
          </p:cNvPr>
          <p:cNvSpPr txBox="1"/>
          <p:nvPr/>
        </p:nvSpPr>
        <p:spPr>
          <a:xfrm>
            <a:off x="10330112" y="176396"/>
            <a:ext cx="173611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i-FI"/>
              <a:t>Viljami Lindholm</a:t>
            </a:r>
          </a:p>
          <a:p>
            <a:pPr algn="l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29029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37450C4-097E-3BD9-CF9B-3CCC4129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Szymon’s extra charts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isällön paikkamerkki 4">
            <a:extLst>
              <a:ext uri="{FF2B5EF4-FFF2-40B4-BE49-F238E27FC236}">
                <a16:creationId xmlns:a16="http://schemas.microsoft.com/office/drawing/2014/main" id="{54998722-BBC5-02A7-D721-7EAA69ACA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720" y="2642616"/>
            <a:ext cx="5043055" cy="3605784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D40E871A-6828-9236-C26F-E60C78259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775220"/>
            <a:ext cx="5614416" cy="33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65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isällön paikkamerkki 4">
            <a:extLst>
              <a:ext uri="{FF2B5EF4-FFF2-40B4-BE49-F238E27FC236}">
                <a16:creationId xmlns:a16="http://schemas.microsoft.com/office/drawing/2014/main" id="{D2E1F88E-3C02-2525-1AD3-82B124B18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2" y="437978"/>
            <a:ext cx="5426764" cy="2672681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C6D44146-560F-9846-6721-84BC36ADC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953157"/>
            <a:ext cx="5426764" cy="211643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Kuva 8">
            <a:extLst>
              <a:ext uri="{FF2B5EF4-FFF2-40B4-BE49-F238E27FC236}">
                <a16:creationId xmlns:a16="http://schemas.microsoft.com/office/drawing/2014/main" id="{3EACEF64-13E4-793A-A8A4-90A4CBCB3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1559080"/>
            <a:ext cx="5426764" cy="359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8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D24198111070AF4CAFBA2665C4910BE4" ma:contentTypeVersion="5" ma:contentTypeDescription="Luo uusi asiakirja." ma:contentTypeScope="" ma:versionID="f8043438c4e68b858bd380e855020c72">
  <xsd:schema xmlns:xsd="http://www.w3.org/2001/XMLSchema" xmlns:xs="http://www.w3.org/2001/XMLSchema" xmlns:p="http://schemas.microsoft.com/office/2006/metadata/properties" xmlns:ns3="b3a2de78-3e60-41eb-b54b-6cc06bf51c1f" targetNamespace="http://schemas.microsoft.com/office/2006/metadata/properties" ma:root="true" ma:fieldsID="951f275866ad531a3a8c65acde9b024d" ns3:_="">
    <xsd:import namespace="b3a2de78-3e60-41eb-b54b-6cc06bf51c1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2de78-3e60-41eb-b54b-6cc06bf51c1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a2de78-3e60-41eb-b54b-6cc06bf51c1f" xsi:nil="true"/>
  </documentManagement>
</p:properties>
</file>

<file path=customXml/itemProps1.xml><?xml version="1.0" encoding="utf-8"?>
<ds:datastoreItem xmlns:ds="http://schemas.openxmlformats.org/officeDocument/2006/customXml" ds:itemID="{891F8BA8-F200-4E38-8B54-7D4AD5DAE5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D1003A-3FA0-4206-8109-306C6396DF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a2de78-3e60-41eb-b54b-6cc06bf51c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103F03-626B-4F9B-89F9-C0D495AC0CAC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b3a2de78-3e60-41eb-b54b-6cc06bf51c1f"/>
    <ds:schemaRef ds:uri="http://purl.org/dc/dcmitype/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fbd2f045-b34c-4673-9534-8f2374355cec}" enabled="0" method="" siteId="{fbd2f045-b34c-4673-9534-8f2374355ce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2885</TotalTime>
  <Words>700</Words>
  <Application>Microsoft Office PowerPoint</Application>
  <PresentationFormat>Laajakuva</PresentationFormat>
  <Paragraphs>101</Paragraphs>
  <Slides>21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Segoe UI</vt:lpstr>
      <vt:lpstr>Office-teema</vt:lpstr>
      <vt:lpstr>Analysis reports for work place satisfaction </vt:lpstr>
      <vt:lpstr>Background of the survey</vt:lpstr>
      <vt:lpstr>Variables of the survey</vt:lpstr>
      <vt:lpstr>Relevant info from describe table here</vt:lpstr>
      <vt:lpstr>Descriptive Statistics</vt:lpstr>
      <vt:lpstr>Overall Satisfaction Trends</vt:lpstr>
      <vt:lpstr>Age Distribution of Employees </vt:lpstr>
      <vt:lpstr>Gender Distribution Table </vt:lpstr>
      <vt:lpstr>Gender Demographics </vt:lpstr>
      <vt:lpstr>Age Categorization </vt:lpstr>
      <vt:lpstr>Age Group Distribution </vt:lpstr>
      <vt:lpstr>Age Groups by Gender</vt:lpstr>
      <vt:lpstr>Statistical Significance of gender vs. environment satisfaction </vt:lpstr>
      <vt:lpstr>PowerPoint-esitys</vt:lpstr>
      <vt:lpstr>Family status categorization </vt:lpstr>
      <vt:lpstr>Years of service analysis</vt:lpstr>
      <vt:lpstr>Family status &amp; Colleaque satisfaction</vt:lpstr>
      <vt:lpstr>Education analysis</vt:lpstr>
      <vt:lpstr>Education &amp; Salary analysis </vt:lpstr>
      <vt:lpstr>Szymon’s extra charts</vt:lpstr>
      <vt:lpstr>PowerPoint-esitys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Szuwarowski</dc:creator>
  <cp:lastModifiedBy>Szymon Szuwarowski</cp:lastModifiedBy>
  <cp:revision>2</cp:revision>
  <dcterms:created xsi:type="dcterms:W3CDTF">2026-10-06T09:30:44Z</dcterms:created>
  <dcterms:modified xsi:type="dcterms:W3CDTF">2026-10-23T11:46:15Z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0x010100D24198111070AF4CAFBA2665C4910BE4</vt:lpwstr>
  </property>
</Properties>
</file>